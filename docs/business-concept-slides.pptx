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FF9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цифровой двойник: от интуиции — к управлению на данных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Системные проблемы, которые делают управление организацией дорогим и медленным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ПРОБЛЕМА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D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ПОСЛЕДСТВИЕ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C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РЕШЕНИЕ (ДВОЙНИК)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Нет единой классификации подразделений по роли в создании стоимости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Решения о сокращениях и инвестициях принимаются вслепую: неясно, кто реально приносит деньги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Авто-категоризация по ШЕТИЛ: карта «кто зарабатывает, кто — центр затрат»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Дисбаланс структуры ПП / ОПП / АУП (производство / обеспечение / администрация)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Раздутый управленческий overhead съедает маржу; платим за администрирование, а не за результат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Метрики overhead, span of control, бенчмарки — видно, где штат избыточен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P&amp;L не виден на уровне подразделений; непрозрачное распределение прибыли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Убыточные центры маскируются в общем результате; ресурсные блоки выглядят «вечно убыточными»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P&amp;L каждого подразделения в 3 режимах аллокации — настоящая экономика центра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Реорганизация — «чёрный ящик»: эффект нельзя просчитать до внедрения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Изменения идут месяцами по интуиции; ошибки стоят дорого и необратимы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Сценарное моделирование as-is / to-be, what-if — эффект в ₽ виден до приказа</a:t>
                      </a:r>
                      <a:endParaRPr lang="en-US" sz="105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D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937760"/>
            <a:ext cx="11247120" cy="685800"/>
          </a:xfrm>
          <a:prstGeom prst="rect">
            <a:avLst>
              <a:gd name="adj" fmla="val 10667"/>
            </a:avLst>
          </a:prstGeom>
          <a:solidFill>
            <a:srgbClr val="FF9A0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9834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Разрозненные данные (1С, Excel, штатки, договоры) →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единый цифровой двойник организации.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Анализ, занимавший недели, — за минуты. Решения обоснованы цифрами, а не интуицией.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D3B6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FF9A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система решает уже сейчас: примеры кейсов по слоям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2286000"/>
          </a:xfrm>
          <a:prstGeom prst="rect">
            <a:avLst>
              <a:gd name="adj" fmla="val 3200"/>
            </a:avLst>
          </a:prstGeom>
          <a:solidFill>
            <a:srgbClr val="F5F6F7"/>
          </a:solidFill>
          <a:ln w="19050">
            <a:solidFill>
              <a:srgbClr val="0D3B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1247120" cy="365760"/>
          </a:xfrm>
          <a:prstGeom prst="rect">
            <a:avLst>
              <a:gd name="adj" fmla="val 20000"/>
            </a:avLst>
          </a:prstGeom>
          <a:solidFill>
            <a:srgbClr val="0D3B6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11247120" cy="1371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93268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ОРГДИЗАЙН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Кейс: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Оптимизация структуры as-is → to-be — снизить overhead и ускорить принятие решений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Система: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Моделирует целевую структуру to-be; находит лишние уровни иерархии, низкий span of control, дисбаланс ПП/ОПП/АУП; сравнивает сценарии as-is / to-be бок о бок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Рекомендуемая to-be структура + оценка эффекта (экономия ФОТ, сокращение уровней управления, рост доли производственного штата)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566160" cy="3017520"/>
          </a:xfrm>
          <a:prstGeom prst="rect">
            <a:avLst>
              <a:gd name="adj" fmla="val 1818"/>
            </a:avLst>
          </a:prstGeom>
          <a:solidFill>
            <a:srgbClr val="F5F6F7"/>
          </a:solidFill>
          <a:ln w="12700">
            <a:solidFill>
              <a:srgbClr val="79C7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3566160" cy="320040"/>
          </a:xfrm>
          <a:prstGeom prst="rect">
            <a:avLst>
              <a:gd name="adj" fmla="val 17143"/>
            </a:avLst>
          </a:prstGeom>
          <a:solidFill>
            <a:srgbClr val="79C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566160"/>
            <a:ext cx="3566160" cy="137160"/>
          </a:xfrm>
          <a:prstGeom prst="rect">
            <a:avLst/>
          </a:prstGeom>
          <a:solidFill>
            <a:srgbClr val="79C7C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9242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ФИНАНСЫ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Кейс: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Вскрытие убыточных подразделений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Система: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P&amp;L по каждому подразделению в 3 режимах аллокации; трансфертные цены вскрывают реальный вклад ресурсных центров; находит причину убытка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Загрузка / пересмотр тарифа / объединение / вывод на аутсорс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51960" y="3383280"/>
            <a:ext cx="3566160" cy="3017520"/>
          </a:xfrm>
          <a:prstGeom prst="rect">
            <a:avLst>
              <a:gd name="adj" fmla="val 1818"/>
            </a:avLst>
          </a:prstGeom>
          <a:solidFill>
            <a:srgbClr val="F5F6F7"/>
          </a:solidFill>
          <a:ln w="12700">
            <a:solidFill>
              <a:srgbClr val="0078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3383280"/>
            <a:ext cx="3566160" cy="320040"/>
          </a:xfrm>
          <a:prstGeom prst="rect">
            <a:avLst>
              <a:gd name="adj" fmla="val 17143"/>
            </a:avLst>
          </a:prstGeom>
          <a:solidFill>
            <a:srgbClr val="0078C1"/>
          </a:solidFill>
          <a:ln/>
        </p:spPr>
      </p:sp>
      <p:sp>
        <p:nvSpPr>
          <p:cNvPr id="21" name="Shape 19"/>
          <p:cNvSpPr/>
          <p:nvPr/>
        </p:nvSpPr>
        <p:spPr>
          <a:xfrm>
            <a:off x="4251960" y="3566160"/>
            <a:ext cx="3566160" cy="137160"/>
          </a:xfrm>
          <a:prstGeom prst="rect">
            <a:avLst/>
          </a:prstGeom>
          <a:solidFill>
            <a:srgbClr val="0078C1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339242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ПРОЕКТЫ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37947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Кейс: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Балансировка загрузки на проекты и договоры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46177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Система: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Связывает людей с договорами (FTE по периодам), видит перегруз и простой, дефицит ресурсов под контракты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43400" y="54406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Карта загрузки — где не хватает людей, кого переключить, кто на «скамейке»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6720" y="3383280"/>
            <a:ext cx="3566160" cy="3017520"/>
          </a:xfrm>
          <a:prstGeom prst="rect">
            <a:avLst>
              <a:gd name="adj" fmla="val 1818"/>
            </a:avLst>
          </a:prstGeom>
          <a:solidFill>
            <a:srgbClr val="F5F6F7"/>
          </a:solidFill>
          <a:ln w="12700">
            <a:solidFill>
              <a:srgbClr val="2FB4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3383280"/>
            <a:ext cx="3566160" cy="320040"/>
          </a:xfrm>
          <a:prstGeom prst="rect">
            <a:avLst>
              <a:gd name="adj" fmla="val 17143"/>
            </a:avLst>
          </a:prstGeom>
          <a:solidFill>
            <a:srgbClr val="2FB4E9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0" y="3566160"/>
            <a:ext cx="3566160" cy="137160"/>
          </a:xfrm>
          <a:prstGeom prst="rect">
            <a:avLst/>
          </a:prstGeom>
          <a:solidFill>
            <a:srgbClr val="2FB4E9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339242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КОМПЕТЕНЦИИ / HR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37947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Кейс: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Критичные компетенции и риск ключевых людей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138160" y="46177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Система: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Матрица компетенций, skill gap по подразделениям, succession-риски (ключевые люди без замены)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38160" y="54406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3B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Карта дефицитов + план закрытия (найм / обучение / ротация)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D3B6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Бизнес-концепция цифрового двойника организации</dc:title>
  <dc:subject>PptxGenJS Presentation</dc:subject>
  <dc:creator>OrgChart Digital Twin</dc:creator>
  <cp:lastModifiedBy>OrgChart Digital Twin</cp:lastModifiedBy>
  <cp:revision>1</cp:revision>
  <dcterms:created xsi:type="dcterms:W3CDTF">2026-06-01T15:04:16Z</dcterms:created>
  <dcterms:modified xsi:type="dcterms:W3CDTF">2026-06-01T15:04:16Z</dcterms:modified>
</cp:coreProperties>
</file>